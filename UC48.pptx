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805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BD10F3-C652-1772-8F39-05A04F35F734}" name="Kanagasundaram, Senthil" initials="SK" userId="S::skanagasundaram@deloitte.com::ad0514d2-f5b9-46b6-980a-a8b5153a99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E4184-121C-D8FB-76B8-8C7C98181328}" v="4" dt="2025-09-20T03:00:39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l, Amol" userId="S::amolpatil63@deloitte.com::79c036e5-b440-45ac-9615-e56dd765b054" providerId="AD" clId="Web-{2E4E4184-121C-D8FB-76B8-8C7C98181328}"/>
    <pc:docChg chg="modSld">
      <pc:chgData name="Patil, Amol" userId="S::amolpatil63@deloitte.com::79c036e5-b440-45ac-9615-e56dd765b054" providerId="AD" clId="Web-{2E4E4184-121C-D8FB-76B8-8C7C98181328}" dt="2025-09-20T03:00:39.641" v="3" actId="1076"/>
      <pc:docMkLst>
        <pc:docMk/>
      </pc:docMkLst>
      <pc:sldChg chg="modSp">
        <pc:chgData name="Patil, Amol" userId="S::amolpatil63@deloitte.com::79c036e5-b440-45ac-9615-e56dd765b054" providerId="AD" clId="Web-{2E4E4184-121C-D8FB-76B8-8C7C98181328}" dt="2025-09-20T03:00:39.641" v="3" actId="1076"/>
        <pc:sldMkLst>
          <pc:docMk/>
          <pc:sldMk cId="3454177366" sldId="2147480501"/>
        </pc:sldMkLst>
        <pc:spChg chg="mod">
          <ac:chgData name="Patil, Amol" userId="S::amolpatil63@deloitte.com::79c036e5-b440-45ac-9615-e56dd765b054" providerId="AD" clId="Web-{2E4E4184-121C-D8FB-76B8-8C7C98181328}" dt="2025-09-20T03:00:39.641" v="3" actId="1076"/>
          <ac:spMkLst>
            <pc:docMk/>
            <pc:sldMk cId="3454177366" sldId="2147480501"/>
            <ac:spMk id="7" creationId="{64CB0172-EB3B-2C62-105A-B1DCDB9583C0}"/>
          </ac:spMkLst>
        </pc:spChg>
      </pc:sldChg>
    </pc:docChg>
  </pc:docChgLst>
  <pc:docChgLst>
    <pc:chgData name="Patil, Amol" userId="S::amolpatil63@deloitte.com::79c036e5-b440-45ac-9615-e56dd765b054" providerId="AD" clId="Web-{C79B44B5-3CD0-4454-EE37-F8918BB07D8A}"/>
    <pc:docChg chg="modSld">
      <pc:chgData name="Patil, Amol" userId="S::amolpatil63@deloitte.com::79c036e5-b440-45ac-9615-e56dd765b054" providerId="AD" clId="Web-{C79B44B5-3CD0-4454-EE37-F8918BB07D8A}" dt="2025-09-17T02:36:35.768" v="6" actId="1076"/>
      <pc:docMkLst>
        <pc:docMk/>
      </pc:docMkLst>
      <pc:sldChg chg="modSp">
        <pc:chgData name="Patil, Amol" userId="S::amolpatil63@deloitte.com::79c036e5-b440-45ac-9615-e56dd765b054" providerId="AD" clId="Web-{C79B44B5-3CD0-4454-EE37-F8918BB07D8A}" dt="2025-09-17T02:36:35.768" v="6" actId="1076"/>
        <pc:sldMkLst>
          <pc:docMk/>
          <pc:sldMk cId="3454177366" sldId="2147480501"/>
        </pc:sldMkLst>
        <pc:spChg chg="mod">
          <ac:chgData name="Patil, Amol" userId="S::amolpatil63@deloitte.com::79c036e5-b440-45ac-9615-e56dd765b054" providerId="AD" clId="Web-{C79B44B5-3CD0-4454-EE37-F8918BB07D8A}" dt="2025-09-17T02:36:28.455" v="5" actId="1076"/>
          <ac:spMkLst>
            <pc:docMk/>
            <pc:sldMk cId="3454177366" sldId="2147480501"/>
            <ac:spMk id="6" creationId="{C359F110-4ECA-8A92-8CBA-34E19B215652}"/>
          </ac:spMkLst>
        </pc:spChg>
        <pc:spChg chg="mod">
          <ac:chgData name="Patil, Amol" userId="S::amolpatil63@deloitte.com::79c036e5-b440-45ac-9615-e56dd765b054" providerId="AD" clId="Web-{C79B44B5-3CD0-4454-EE37-F8918BB07D8A}" dt="2025-09-17T02:36:35.768" v="6" actId="1076"/>
          <ac:spMkLst>
            <pc:docMk/>
            <pc:sldMk cId="3454177366" sldId="2147480501"/>
            <ac:spMk id="7" creationId="{64CB0172-EB3B-2C62-105A-B1DCDB9583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F39A1-013F-4B77-BB82-1F0E4EDD161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22BD3-B627-41F3-953B-A79BD99C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56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19B15E-DC56-4325-9418-F9CC5EE0D9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5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095A-20F2-392B-78E1-58F555183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B4E3B-0D68-F640-33BC-0D500FC91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8919-0766-D399-E5A6-64DC9A9D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ACF91-B075-9FF3-1DD3-5A51E0B2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758DC-3353-6E84-13EA-AECCD356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2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0787-B9CD-E56E-6622-55F07003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3F6C0-9FCB-B5A5-94AD-3B2E0A340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18F15-7461-5235-C2F3-6049CC86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B92DD-A2FD-EC55-4231-627968A68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B342-C4E8-FA7A-EE45-E072F630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1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43FF-7E52-BDC3-D446-EFF19EA7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678C3-AC00-E931-3BF0-3FA067312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F49F0-4C20-EF69-761D-F87B4731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217EF-FAC6-B09F-CC05-8480DF2C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25A98-EC1A-9F18-0751-BD89695F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1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113D8-3DB4-04D2-0976-D3364A8C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51796-D79F-636D-80C8-9C3ACDDF2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3D541-C9AC-F35B-5C16-25540D6EA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BDA7C-F512-47AF-F698-D15F0050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5347E-149D-E246-7BC1-1B967FA7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D12D4-E3CC-E6D5-7A8D-05EC020C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2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74F2-A05C-0B96-A637-F55969DE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475E8-9A1B-F766-0C01-0B974674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0CF00-6CA7-718C-E338-432F7994D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2884B-013D-6712-14BA-7C1272AFA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234F6-F0A6-5720-23F8-7FB1CDC06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AD610-093A-42FB-6B9F-47D71FDF3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F82C9-AB82-0142-7ED6-7CD8311A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8ABF14-CF21-BE0F-B4E6-1DBA8C9C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3D60-3A76-6F4A-3057-F097101E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A6360-9FFB-0296-1747-7214F9E5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0F7BB-F97A-D0D7-0989-3668E00B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37750-8F26-C4BE-236B-98AC2DD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0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D17BE-E895-BE4A-EA26-947B9CE0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DDC4B-E52E-B488-475B-7099D217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9AC4C-3ED2-3A62-65A1-DE7A4CA5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BE6A-0E4E-525C-3B97-CF6A8E3D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E76A9-4314-F478-1549-4838A58BF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88941-E621-B560-2886-72434817A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0D496-CF8E-19E3-FA1E-AB1BCFDC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6C891-83F9-A643-AA35-88A17345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3F4F7-C633-47BB-9356-72F5CD58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9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A0D4-3621-DA75-DC8F-0F8E116C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E81A2-D20F-F9DC-101A-021063736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BB9C4-28DD-6FEC-15EF-FD7E37129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0B9AC-E8F0-A83E-D49C-C336BCB3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4A671-D66B-C327-DB9E-F56D5F7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3C42A-4F19-41C9-3BDF-2710D5A0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6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AA06-43F3-C481-EEFD-7381357E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72257-341F-B068-943C-2F52A0C3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B4376-D80A-DB47-6F2B-C88588CD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92B6E-4091-E2A1-B865-6378A542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1EEC-899C-DA1D-B747-09853C0F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2A7F5-7528-948F-01FA-CBF602A11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A2A49-93FB-3582-4834-A7E99C197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8965C-3EE8-8C13-2DE5-AAE89520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9FB40-0123-2832-6277-1DDFC412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2A9E4-16E1-B35C-F334-CBF581F0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4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12FED8-D329-D81D-290B-3604FDD2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CA13E-5474-883D-DC80-4BC3B3991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102EB-9DE5-E000-111B-C99FA4C6A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F139E-C0D2-405C-8EC0-B988082CAC6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7C63A-F6A4-95FB-74D1-399CCEEF7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A534F-A454-7B22-B9D3-13C45C8C2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5398C-DDEF-4BD3-9EFB-07AE08777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4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AF82-854A-E2FE-E496-D65D905D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03B559-040B-29CA-2807-F6F5DE8A0194}"/>
              </a:ext>
            </a:extLst>
          </p:cNvPr>
          <p:cNvSpPr txBox="1">
            <a:spLocks/>
          </p:cNvSpPr>
          <p:nvPr/>
        </p:nvSpPr>
        <p:spPr>
          <a:xfrm>
            <a:off x="463295" y="682941"/>
            <a:ext cx="11271505" cy="33410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i="1">
              <a:latin typeface="+mj-lt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65E7AE13-19B7-E575-CD4A-B8BCC8B3CD73}"/>
              </a:ext>
            </a:extLst>
          </p:cNvPr>
          <p:cNvSpPr txBox="1">
            <a:spLocks/>
          </p:cNvSpPr>
          <p:nvPr/>
        </p:nvSpPr>
        <p:spPr>
          <a:xfrm>
            <a:off x="185185" y="345252"/>
            <a:ext cx="11271505" cy="3340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6858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defTabSz="914400"/>
            <a:r>
              <a:rPr lang="en-US" sz="2000" b="1">
                <a:cs typeface="Calibri"/>
              </a:rPr>
              <a:t>Use Case #48 </a:t>
            </a:r>
            <a:r>
              <a:rPr lang="en-US" sz="1800" b="1">
                <a:cs typeface="Calibri"/>
              </a:rPr>
              <a:t>– </a:t>
            </a:r>
            <a:r>
              <a:rPr lang="en-US" sz="2400" i="1">
                <a:ea typeface="+mn-lt"/>
                <a:cs typeface="+mn-lt"/>
              </a:rPr>
              <a:t>Customized cloud services recommendation engine</a:t>
            </a:r>
            <a:endParaRPr lang="en-US" sz="2400" i="1">
              <a:latin typeface="+mj-lt"/>
              <a:ea typeface="Calibri"/>
              <a:cs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3F475C-68AB-D0B8-E406-CAE784A102E9}"/>
              </a:ext>
            </a:extLst>
          </p:cNvPr>
          <p:cNvSpPr txBox="1">
            <a:spLocks/>
          </p:cNvSpPr>
          <p:nvPr/>
        </p:nvSpPr>
        <p:spPr>
          <a:xfrm>
            <a:off x="6524348" y="1711958"/>
            <a:ext cx="5329702" cy="15777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>
                <a:solidFill>
                  <a:srgbClr val="0D8390"/>
                </a:solidFill>
                <a:latin typeface="+mj-lt"/>
                <a:ea typeface="Open Sans"/>
                <a:cs typeface="Open Sans"/>
              </a:rPr>
              <a:t>Technology Stack</a:t>
            </a:r>
          </a:p>
          <a:p>
            <a:pPr>
              <a:spcAft>
                <a:spcPts val="0"/>
              </a:spcAft>
            </a:pPr>
            <a:endParaRPr lang="en-US" sz="1400" b="1">
              <a:solidFill>
                <a:srgbClr val="0D839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marR="0" lvl="0" indent="-285750" defTabSz="914400" fontAlgn="base">
              <a:lnSpc>
                <a:spcPct val="100000"/>
              </a:lnSpc>
              <a:spcAft>
                <a:spcPts val="1000"/>
              </a:spcAft>
              <a:buClrTx/>
              <a:buFont typeface="Arial"/>
              <a:buChar char="•"/>
              <a:tabLst/>
            </a:pPr>
            <a:r>
              <a:rPr lang="en-US" altLang="en-US" sz="1400">
                <a:ea typeface="+mn-lt"/>
                <a:cs typeface="+mn-lt"/>
              </a:rPr>
              <a:t>Backend: .NET Core, Node.js, or Python </a:t>
            </a:r>
          </a:p>
          <a:p>
            <a:pPr marL="285750" marR="0" lvl="0" indent="-285750" defTabSz="914400" fontAlgn="base">
              <a:lnSpc>
                <a:spcPct val="100000"/>
              </a:lnSpc>
              <a:spcAft>
                <a:spcPts val="1000"/>
              </a:spcAft>
              <a:buClrTx/>
              <a:buFont typeface="Arial"/>
              <a:buChar char="•"/>
              <a:tabLst/>
            </a:pPr>
            <a:r>
              <a:rPr lang="en-US" altLang="en-US" sz="1400">
                <a:ea typeface="+mn-lt"/>
                <a:cs typeface="+mn-lt"/>
              </a:rPr>
              <a:t>Frontend: React or Angular </a:t>
            </a:r>
          </a:p>
          <a:p>
            <a:pPr marL="285750" marR="0" lvl="0" indent="-285750" defTabSz="914400" fontAlgn="base">
              <a:lnSpc>
                <a:spcPct val="100000"/>
              </a:lnSpc>
              <a:spcAft>
                <a:spcPts val="1000"/>
              </a:spcAft>
              <a:buClrTx/>
              <a:buFont typeface="Arial"/>
              <a:buChar char="•"/>
              <a:tabLst/>
            </a:pPr>
            <a:r>
              <a:rPr lang="en-US" altLang="en-US" sz="1400">
                <a:ea typeface="+mn-lt"/>
                <a:cs typeface="+mn-lt"/>
              </a:rPr>
              <a:t>Database: PostgreSQL or MongoDB or SQL Server</a:t>
            </a:r>
          </a:p>
          <a:p>
            <a:pPr marL="285750" indent="-285750" defTabSz="914400">
              <a:spcAft>
                <a:spcPts val="1000"/>
              </a:spcAft>
              <a:buFont typeface="Arial"/>
              <a:buChar char="•"/>
            </a:pPr>
            <a:r>
              <a:rPr lang="en-US" altLang="en-US" sz="1400">
                <a:ea typeface="+mn-lt"/>
                <a:cs typeface="+mn-lt"/>
              </a:rPr>
              <a:t>Gen AI : Azure Open AI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E0FE8C-AED9-D892-DC0C-FDE4A4E24BFA}"/>
              </a:ext>
            </a:extLst>
          </p:cNvPr>
          <p:cNvSpPr txBox="1">
            <a:spLocks/>
          </p:cNvSpPr>
          <p:nvPr/>
        </p:nvSpPr>
        <p:spPr>
          <a:xfrm>
            <a:off x="433967" y="1711958"/>
            <a:ext cx="5663729" cy="22537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>
                <a:solidFill>
                  <a:srgbClr val="0D8390"/>
                </a:solidFill>
                <a:latin typeface="+mj-lt"/>
                <a:ea typeface="Open Sans"/>
                <a:cs typeface="Open Sans"/>
              </a:rPr>
              <a:t>Design Consideration</a:t>
            </a:r>
          </a:p>
          <a:p>
            <a:pPr>
              <a:spcAft>
                <a:spcPts val="0"/>
              </a:spcAft>
            </a:pPr>
            <a:endParaRPr lang="en-US" sz="1800" b="1">
              <a:solidFill>
                <a:srgbClr val="0D8390"/>
              </a:solidFill>
              <a:latin typeface="+mj-lt"/>
              <a:ea typeface="Open Sans"/>
              <a:cs typeface="Open Sans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User registration and profile management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Interactive questionnaire collects workload, usage, compliance, and specs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Generate Gen AI prompt for price comparison and recommendations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Display monthly cost estimates in a table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Save searches and maintain search history</a:t>
            </a:r>
            <a:endParaRPr lang="en-US" sz="1400">
              <a:ea typeface="+mn-lt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59F110-4ECA-8A92-8CBA-34E19B215652}"/>
              </a:ext>
            </a:extLst>
          </p:cNvPr>
          <p:cNvSpPr txBox="1">
            <a:spLocks/>
          </p:cNvSpPr>
          <p:nvPr/>
        </p:nvSpPr>
        <p:spPr>
          <a:xfrm>
            <a:off x="428126" y="4188490"/>
            <a:ext cx="5395561" cy="2193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 dirty="0">
                <a:solidFill>
                  <a:srgbClr val="0D8390"/>
                </a:solidFill>
                <a:latin typeface="+mj-lt"/>
                <a:ea typeface="Open Sans"/>
                <a:cs typeface="Open Sans"/>
              </a:rPr>
              <a:t>Non-Functional Requirements</a:t>
            </a:r>
          </a:p>
          <a:p>
            <a:pPr>
              <a:spcAft>
                <a:spcPts val="0"/>
              </a:spcAft>
            </a:pPr>
            <a:endParaRPr lang="en-US" sz="1800" b="1">
              <a:solidFill>
                <a:srgbClr val="0D8390"/>
              </a:solidFill>
              <a:latin typeface="+mj-lt"/>
              <a:ea typeface="Open Sans"/>
              <a:cs typeface="Open Sans"/>
            </a:endParaRPr>
          </a:p>
          <a:p>
            <a:pPr marL="285750" indent="-285750">
              <a:buChar char="•"/>
            </a:pPr>
            <a:r>
              <a:rPr lang="en-US" sz="1400" dirty="0">
                <a:ea typeface="+mn-lt"/>
                <a:cs typeface="+mn-lt"/>
              </a:rPr>
              <a:t>Security: Secure user data and audit logging</a:t>
            </a:r>
          </a:p>
          <a:p>
            <a:pPr marL="285750" indent="-285750">
              <a:buChar char="•"/>
            </a:pPr>
            <a:r>
              <a:rPr lang="en-US" sz="1400" dirty="0">
                <a:ea typeface="+mn-lt"/>
                <a:cs typeface="+mn-lt"/>
              </a:rPr>
              <a:t>Concurrency: Supports 15 concurrent users</a:t>
            </a:r>
          </a:p>
          <a:p>
            <a:pPr marL="285750" indent="-285750">
              <a:buChar char="•"/>
            </a:pPr>
            <a:r>
              <a:rPr lang="en-US" sz="1400" dirty="0">
                <a:ea typeface="+mn-lt"/>
                <a:cs typeface="+mn-lt"/>
              </a:rPr>
              <a:t>Scalability: Handles increasing user load</a:t>
            </a:r>
          </a:p>
          <a:p>
            <a:pPr marL="285750" indent="-285750">
              <a:buChar char="•"/>
            </a:pPr>
            <a:r>
              <a:rPr lang="en-US" sz="1400" dirty="0">
                <a:ea typeface="+mn-lt"/>
                <a:cs typeface="+mn-lt"/>
              </a:rPr>
              <a:t>Performance: Web &lt;3s, API 1–2s, SQL &lt;500ms</a:t>
            </a:r>
            <a:endParaRPr lang="en-US" altLang="en-US" sz="1200" dirty="0">
              <a:ea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9809EC-20A3-EDF2-F5B3-DE196151529E}"/>
              </a:ext>
            </a:extLst>
          </p:cNvPr>
          <p:cNvSpPr txBox="1">
            <a:spLocks/>
          </p:cNvSpPr>
          <p:nvPr/>
        </p:nvSpPr>
        <p:spPr>
          <a:xfrm>
            <a:off x="192157" y="739081"/>
            <a:ext cx="11271505" cy="54285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1400" i="1"/>
              <a:t>Problem Statement –  A web application that helps businesses or users select the best-fit services (compute, storage, database, </a:t>
            </a:r>
            <a:r>
              <a:rPr lang="en-US" sz="1400" i="1" err="1"/>
              <a:t>etc</a:t>
            </a:r>
            <a:r>
              <a:rPr lang="en-US" sz="1400" i="1"/>
              <a:t>) based on their specific requirements. The platform collects user needs, analyzes available cloud offerings (AWS, Azure, GCP) and provides recommendations with price and features</a:t>
            </a:r>
          </a:p>
          <a:p>
            <a:pPr defTabSz="914400">
              <a:spcBef>
                <a:spcPct val="0"/>
              </a:spcBef>
              <a:spcAft>
                <a:spcPct val="0"/>
              </a:spcAft>
              <a:buSzTx/>
            </a:pPr>
            <a:endParaRPr lang="en-US" altLang="en-US" sz="1600" i="1">
              <a:latin typeface="+mj-lt"/>
              <a:ea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CB0172-EB3B-2C62-105A-B1DCDB9583C0}"/>
              </a:ext>
            </a:extLst>
          </p:cNvPr>
          <p:cNvSpPr txBox="1">
            <a:spLocks/>
          </p:cNvSpPr>
          <p:nvPr/>
        </p:nvSpPr>
        <p:spPr>
          <a:xfrm>
            <a:off x="6524348" y="4188490"/>
            <a:ext cx="5318659" cy="222781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sz="1800" b="1">
                <a:solidFill>
                  <a:srgbClr val="0D8390"/>
                </a:solidFill>
                <a:latin typeface="+mj-lt"/>
                <a:ea typeface="Open Sans"/>
                <a:cs typeface="Open Sans"/>
              </a:rPr>
              <a:t>Outcomes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Open Sans"/>
              <a:cs typeface="Open Sans"/>
            </a:endParaRPr>
          </a:p>
          <a:p>
            <a:pPr defTabSz="914400">
              <a:buSzTx/>
            </a:pPr>
            <a:endParaRPr lang="en-US" sz="1400">
              <a:ea typeface="+mn-lt"/>
              <a:cs typeface="Calibri"/>
            </a:endParaRPr>
          </a:p>
          <a:p>
            <a:pPr marL="285750" indent="-285750" defTabSz="914400">
              <a:buSzTx/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Form-based input for requirements and Gen AI recommendations</a:t>
            </a:r>
          </a:p>
          <a:p>
            <a:pPr marL="285750" indent="-285750" defTabSz="914400">
              <a:buSzTx/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Show price comparison table with monthly estimates</a:t>
            </a:r>
          </a:p>
          <a:p>
            <a:pPr marL="285750" indent="-285750" defTabSz="914400">
              <a:buSzTx/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Export and share reports in Excel/CSV/PDF</a:t>
            </a:r>
          </a:p>
          <a:p>
            <a:pPr marL="285750" indent="-285750" defTabSz="914400">
              <a:buSzTx/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Save and track search history</a:t>
            </a:r>
            <a:endParaRPr lang="en-US" sz="1800" b="1">
              <a:solidFill>
                <a:srgbClr val="0D839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210D2AB-BAAC-C8B8-FF35-F2B7231C5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17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f62573-bc7f-4c03-9faf-e84dc8399d1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4C98F44B81B541B27D72C78385AC96" ma:contentTypeVersion="10" ma:contentTypeDescription="Create a new document." ma:contentTypeScope="" ma:versionID="deae171d9e43ea53f4f5f63d659505f0">
  <xsd:schema xmlns:xsd="http://www.w3.org/2001/XMLSchema" xmlns:xs="http://www.w3.org/2001/XMLSchema" xmlns:p="http://schemas.microsoft.com/office/2006/metadata/properties" xmlns:ns2="98f62573-bc7f-4c03-9faf-e84dc8399d11" targetNamespace="http://schemas.microsoft.com/office/2006/metadata/properties" ma:root="true" ma:fieldsID="a188fbcfd609651ee7396ecc68dd1397" ns2:_="">
    <xsd:import namespace="98f62573-bc7f-4c03-9faf-e84dc8399d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f62573-bc7f-4c03-9faf-e84dc8399d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05EA74-5C89-43D9-A846-526056F55A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296BC5-C2CF-4AD8-AC63-E952400E9CDD}">
  <ds:schemaRefs>
    <ds:schemaRef ds:uri="http://schemas.microsoft.com/office/2006/metadata/properties"/>
    <ds:schemaRef ds:uri="http://schemas.microsoft.com/office/infopath/2007/PartnerControls"/>
    <ds:schemaRef ds:uri="98f62573-bc7f-4c03-9faf-e84dc8399d11"/>
  </ds:schemaRefs>
</ds:datastoreItem>
</file>

<file path=customXml/itemProps3.xml><?xml version="1.0" encoding="utf-8"?>
<ds:datastoreItem xmlns:ds="http://schemas.openxmlformats.org/officeDocument/2006/customXml" ds:itemID="{C7E707D4-B7BA-486D-BC01-DFDEC6FB47BF}"/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Sundaram</dc:creator>
  <cp:lastModifiedBy>Das, Sundaram</cp:lastModifiedBy>
  <cp:revision>10</cp:revision>
  <dcterms:created xsi:type="dcterms:W3CDTF">2025-09-15T11:38:32Z</dcterms:created>
  <dcterms:modified xsi:type="dcterms:W3CDTF">2025-09-20T03:00:43Z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0x010100EC4C98F44B81B541B27D72C78385AC96</vt:lpwstr>
  </property>
  <property fmtid="{D5CDD505-2E9C-101B-9397-08002B2CF9AE}" pid="3" name="MediaServiceImageTags">
    <vt:lpwstr/>
  </property>
</Properties>
</file>